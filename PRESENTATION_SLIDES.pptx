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73152"/>
          </a:xfrm>
          <a:prstGeom prst="rect">
            <a:avLst/>
          </a:prstGeom>
          <a:solidFill>
            <a:srgbClr val="DD6B20"/>
          </a:solidFill>
          <a:ln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0CDF4"/>
                </a:solidFill>
              </a:rPr>
              <a:t>CAPSTONE PROJECT PROPOSAL DEFENSE  |  CSE 4XX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FFFFFF"/>
                </a:solidFill>
              </a:rPr>
              <a:t>UniRoom-Live: A Multi-Tenant Real-Time Classroom Orchestration and Dynamic Academic Schedule Synchronization Platform</a:t>
            </a:r>
          </a:p>
          <a:p>
            <a:pPr>
              <a:spcBef>
                <a:spcPts val="1200"/>
              </a:spcBef>
            </a:pPr>
            <a:r>
              <a:rPr sz="1300" i="1">
                <a:solidFill>
                  <a:srgbClr val="CBD5E0"/>
                </a:solidFill>
              </a:rPr>
              <a:t>Concurrency-Controlled Room Allocation, Push Synchronization, and Responsive Mobile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132A4A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43484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D8936"/>
                </a:solidFill>
              </a:rPr>
              <a:t>Department of Computer Science &amp; Engineering  |  Uttara University, Dhaka, Bangladesh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FFFFF"/>
                </a:solidFill>
              </a:rPr>
              <a:t>PROJECT TEAM (3 PRESENTERS):
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E2E8F0"/>
                </a:solidFill>
              </a:rPr>
              <a:t>• Speaker 1: [Member 1 Name - ID: XXXXXX] (Intro, Problem &amp; Objectives)
</a:t>
            </a:r>
            <a:r>
              <a:rPr sz="1050">
                <a:solidFill>
                  <a:srgbClr val="E2E8F0"/>
                </a:solidFill>
              </a:rPr>
              <a:t>• Speaker 2: [Member 2 Name - ID: XXXXXX] (Scope, Methodology, Architecture &amp; OCC)
</a:t>
            </a:r>
            <a:r>
              <a:rPr sz="1050">
                <a:solidFill>
                  <a:srgbClr val="E2E8F0"/>
                </a:solidFill>
              </a:rPr>
              <a:t>• Speaker 3: [Member 3 Name - ID: XXXXXX] (Workflows, CR Suite, Verification &amp; Future)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PRESENTATION STRUCTURE</a:t>
            </a:r>
            <a:r>
              <a:rPr sz="1000" b="1">
                <a:solidFill>
                  <a:srgbClr val="DD6B20"/>
                </a:solidFill>
              </a:rPr>
              <a:t>   |   ALL SPEAKERS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Presentation Road-Map &amp; Speaker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[SPEAKER 1] </a:t>
            </a:r>
            <a:r>
              <a:rPr sz="1400" b="1">
                <a:solidFill>
                  <a:srgbClr val="0A192F"/>
                </a:solidFill>
              </a:rPr>
              <a:t>PART 1: THE FOUNDATION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Presenter: </a:t>
            </a:r>
            <a:r>
              <a:rPr sz="1100">
                <a:solidFill>
                  <a:srgbClr val="4A5568"/>
                </a:solidFill>
              </a:rPr>
              <a:t>Speaker 1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Focus Areas: </a:t>
            </a:r>
            <a:r>
              <a:rPr sz="1100">
                <a:solidFill>
                  <a:srgbClr val="4A5568"/>
                </a:solidFill>
              </a:rPr>
              <a:t>Motivation &amp; Goals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1. Introduction: </a:t>
            </a:r>
            <a:r>
              <a:rPr sz="1100">
                <a:solidFill>
                  <a:srgbClr val="4A5568"/>
                </a:solidFill>
              </a:rPr>
              <a:t>Context &amp; higher education landscape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2. Problem Statement: </a:t>
            </a:r>
            <a:r>
              <a:rPr sz="1100">
                <a:solidFill>
                  <a:srgbClr val="4A5568"/>
                </a:solidFill>
              </a:rPr>
              <a:t>The 5 core campus friction points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3. System Overview: </a:t>
            </a:r>
            <a:r>
              <a:rPr sz="1100">
                <a:solidFill>
                  <a:srgbClr val="4A5568"/>
                </a:solidFill>
              </a:rPr>
              <a:t>UniRoom-Live 2.0 at a glance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4. Objectives: </a:t>
            </a:r>
            <a:r>
              <a:rPr sz="1100">
                <a:solidFill>
                  <a:srgbClr val="4A5568"/>
                </a:solidFill>
              </a:rPr>
              <a:t>Primary &amp; technical aims (starting with 'To')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Handover Cue: </a:t>
            </a:r>
            <a:r>
              <a:rPr sz="1100">
                <a:solidFill>
                  <a:srgbClr val="4A5568"/>
                </a:solidFill>
              </a:rPr>
              <a:t>Passes floor to Speaker 2 for 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2584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[SPEAKER 2] </a:t>
            </a:r>
            <a:r>
              <a:rPr sz="1400" b="1">
                <a:solidFill>
                  <a:srgbClr val="0A192F"/>
                </a:solidFill>
              </a:rPr>
              <a:t>PART 2: ARCHITECTURE &amp; METHOD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Presenter: </a:t>
            </a:r>
            <a:r>
              <a:rPr sz="1100">
                <a:solidFill>
                  <a:srgbClr val="4A5568"/>
                </a:solidFill>
              </a:rPr>
              <a:t>Speaker 2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Focus Areas: </a:t>
            </a:r>
            <a:r>
              <a:rPr sz="1100">
                <a:solidFill>
                  <a:srgbClr val="4A5568"/>
                </a:solidFill>
              </a:rPr>
              <a:t>Design &amp; Technical Engine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5. Project Scope: </a:t>
            </a:r>
            <a:r>
              <a:rPr sz="1100">
                <a:solidFill>
                  <a:srgbClr val="4A5568"/>
                </a:solidFill>
              </a:rPr>
              <a:t>In-Scope modules vs. Out-of-Scope limits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6. Methodology: </a:t>
            </a:r>
            <a:r>
              <a:rPr sz="1100">
                <a:solidFill>
                  <a:srgbClr val="4A5568"/>
                </a:solidFill>
              </a:rPr>
              <a:t>Agile/Scrum 8-Sprint framework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7. System Architecture: </a:t>
            </a:r>
            <a:r>
              <a:rPr sz="1100">
                <a:solidFill>
                  <a:srgbClr val="4A5568"/>
                </a:solidFill>
              </a:rPr>
              <a:t>Decoupled Three-Tier structure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8. Data &amp; Concurrency: </a:t>
            </a:r>
            <a:r>
              <a:rPr sz="1100">
                <a:solidFill>
                  <a:srgbClr val="4A5568"/>
                </a:solidFill>
              </a:rPr>
              <a:t>Relational model &amp; OCC formula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Handover Cue: </a:t>
            </a:r>
            <a:r>
              <a:rPr sz="1100">
                <a:solidFill>
                  <a:srgbClr val="4A5568"/>
                </a:solidFill>
              </a:rPr>
              <a:t>Passes floor to Speaker 3 for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[SPEAKER 3] </a:t>
            </a:r>
            <a:r>
              <a:rPr sz="1400" b="1">
                <a:solidFill>
                  <a:srgbClr val="0A192F"/>
                </a:solidFill>
              </a:rPr>
              <a:t>PART 3: EXECUTION &amp; OUTCOMES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Presenter: </a:t>
            </a:r>
            <a:r>
              <a:rPr sz="1100">
                <a:solidFill>
                  <a:srgbClr val="4A5568"/>
                </a:solidFill>
              </a:rPr>
              <a:t>Speaker 3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Focus Areas: </a:t>
            </a:r>
            <a:r>
              <a:rPr sz="1100">
                <a:solidFill>
                  <a:srgbClr val="4A5568"/>
                </a:solidFill>
              </a:rPr>
              <a:t>Workflows, QA &amp; Future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9. Core Workflows: </a:t>
            </a:r>
            <a:r>
              <a:rPr sz="1100">
                <a:solidFill>
                  <a:srgbClr val="4A5568"/>
                </a:solidFill>
              </a:rPr>
              <a:t>Routine sync &amp; dynamic room release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10. CR Attendance Suite: </a:t>
            </a:r>
            <a:r>
              <a:rPr sz="1100">
                <a:solidFill>
                  <a:srgbClr val="4A5568"/>
                </a:solidFill>
              </a:rPr>
              <a:t>Keypad logger &amp; direct SMS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11. Client Responsiveness: </a:t>
            </a:r>
            <a:r>
              <a:rPr sz="1100">
                <a:solidFill>
                  <a:srgbClr val="4A5568"/>
                </a:solidFill>
              </a:rPr>
              <a:t>360px viewport optimization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12. Verification &amp; Testing: </a:t>
            </a:r>
            <a:r>
              <a:rPr sz="1100">
                <a:solidFill>
                  <a:srgbClr val="4A5568"/>
                </a:solidFill>
              </a:rPr>
              <a:t>Jest, load tests &amp; UAT metrics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13. Conclusion &amp; Future: </a:t>
            </a:r>
            <a:r>
              <a:rPr sz="1100">
                <a:solidFill>
                  <a:srgbClr val="4A5568"/>
                </a:solidFill>
              </a:rPr>
              <a:t>Campus impact &amp;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1. INTRODUCTION</a:t>
            </a:r>
            <a:r>
              <a:rPr sz="1000" b="1">
                <a:solidFill>
                  <a:srgbClr val="DD6B20"/>
                </a:solidFill>
              </a:rPr>
              <a:t>   |   SPEAKER 1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Background &amp; Academic Context in Higher Education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[CAMPUS DYNAMICS] </a:t>
            </a:r>
            <a:r>
              <a:rPr sz="1400" b="1">
                <a:solidFill>
                  <a:srgbClr val="0A192F"/>
                </a:solidFill>
              </a:rPr>
              <a:t>The Modern University Reality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High Campus Density: </a:t>
            </a:r>
            <a:r>
              <a:rPr sz="1100">
                <a:solidFill>
                  <a:srgbClr val="4A5568"/>
                </a:solidFill>
              </a:rPr>
              <a:t>Multi-shift academic programs, shared computer labs, and hundreds of daily classes across separate buildings.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Dynamic Timetable Nature: </a:t>
            </a:r>
            <a:r>
              <a:rPr sz="1100">
                <a:solidFill>
                  <a:srgbClr val="4A5568"/>
                </a:solidFill>
              </a:rPr>
              <a:t>Schedules constantly change due to make-up lectures, faculty reassignments, and student club workshops.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Physical Room Scarcity: </a:t>
            </a:r>
            <a:r>
              <a:rPr sz="1100">
                <a:solidFill>
                  <a:srgbClr val="4A5568"/>
                </a:solidFill>
              </a:rPr>
              <a:t>Classrooms are in high demand; static reservations fail to reflect true live usage.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The Communication Void: </a:t>
            </a:r>
            <a:r>
              <a:rPr sz="1100">
                <a:solidFill>
                  <a:srgbClr val="4A5568"/>
                </a:solidFill>
              </a:rPr>
              <a:t>Decentralized notices lead to student disorientation and wasted faculty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[HISTORICAL SHIFT] </a:t>
            </a:r>
            <a:r>
              <a:rPr sz="1400" b="1">
                <a:solidFill>
                  <a:srgbClr val="0A192F"/>
                </a:solidFill>
              </a:rPr>
              <a:t>Evolution of Schedule Communication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Phase 1: Notice Boards (Static): </a:t>
            </a:r>
            <a:r>
              <a:rPr sz="1100">
                <a:solidFill>
                  <a:srgbClr val="4A5568"/>
                </a:solidFill>
              </a:rPr>
              <a:t>Paper printouts on campus walls; obsolete the moment an instructor rescheduled.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Phase 2: PDF Routine Files (Unsynchronized): </a:t>
            </a:r>
            <a:r>
              <a:rPr sz="1100">
                <a:solidFill>
                  <a:srgbClr val="4A5568"/>
                </a:solidFill>
              </a:rPr>
              <a:t>Distributed via portals; difficult to read on mobile and quickly outdated.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Phase 3: Social Media Chats (Fragmented): </a:t>
            </a:r>
            <a:r>
              <a:rPr sz="1100">
                <a:solidFill>
                  <a:srgbClr val="4A5568"/>
                </a:solidFill>
              </a:rPr>
              <a:t>WhatsApp/Messenger groups prone to message floods, rumors, and missed alerts.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The Need for UniRoom-Live: </a:t>
            </a:r>
            <a:r>
              <a:rPr sz="1100">
                <a:solidFill>
                  <a:srgbClr val="4A5568"/>
                </a:solidFill>
              </a:rPr>
              <a:t>An authoritative, real-time, concurrency-controlled single source of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2. PROBLEM STATEMENT</a:t>
            </a:r>
            <a:r>
              <a:rPr sz="1000" b="1">
                <a:solidFill>
                  <a:srgbClr val="DD6B20"/>
                </a:solidFill>
              </a:rPr>
              <a:t>   |   SPEAKER 1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Problem Statement: 5 Core Campus Friction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[ISSUE 1] </a:t>
            </a:r>
            <a:r>
              <a:rPr sz="1400" b="1">
                <a:solidFill>
                  <a:srgbClr val="0A192F"/>
                </a:solidFill>
              </a:rPr>
              <a:t>1. Schedule Anarchy &amp; Rumors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Decentralized Chatter: </a:t>
            </a:r>
            <a:r>
              <a:rPr sz="1100">
                <a:solidFill>
                  <a:srgbClr val="4A5568"/>
                </a:solidFill>
              </a:rPr>
              <a:t>Rescheduling notices get lost in social media groups.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Consequence: </a:t>
            </a:r>
            <a:r>
              <a:rPr sz="1100">
                <a:solidFill>
                  <a:srgbClr val="4A5568"/>
                </a:solidFill>
              </a:rPr>
              <a:t>Students commute needlessly for cancelled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[ISSUE 2] </a:t>
            </a:r>
            <a:r>
              <a:rPr sz="1400" b="1">
                <a:solidFill>
                  <a:srgbClr val="0A192F"/>
                </a:solidFill>
              </a:rPr>
              <a:t>2. Room Collisions &amp; Double-Booking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Uncoordinated Makeups: </a:t>
            </a:r>
            <a:r>
              <a:rPr sz="1100">
                <a:solidFill>
                  <a:srgbClr val="4A5568"/>
                </a:solidFill>
              </a:rPr>
              <a:t>Two batches book or occupy the same room at the same time.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Consequence: </a:t>
            </a:r>
            <a:r>
              <a:rPr sz="1100">
                <a:solidFill>
                  <a:srgbClr val="4A5568"/>
                </a:solidFill>
              </a:rPr>
              <a:t>Class disruption, lost lecture hours, and administrative chaos.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288036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[ISSUE 3] </a:t>
            </a:r>
            <a:r>
              <a:rPr sz="1400" b="1">
                <a:solidFill>
                  <a:srgbClr val="0A192F"/>
                </a:solidFill>
              </a:rPr>
              <a:t>3. Ghost Occupancy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Locked Empty Rooms: </a:t>
            </a:r>
            <a:r>
              <a:rPr sz="1100">
                <a:solidFill>
                  <a:srgbClr val="4A5568"/>
                </a:solidFill>
              </a:rPr>
              <a:t>Classes ending early leave rooms marked 'Occupied'.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Resource Waste: </a:t>
            </a:r>
            <a:r>
              <a:rPr sz="1100">
                <a:solidFill>
                  <a:srgbClr val="4A5568"/>
                </a:solidFill>
              </a:rPr>
              <a:t>Other batches cannot use empty spaces.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406908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4251960"/>
            <a:ext cx="288036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[ISSUE 4] </a:t>
            </a:r>
            <a:r>
              <a:rPr sz="1400" b="1">
                <a:solidFill>
                  <a:srgbClr val="0A192F"/>
                </a:solidFill>
              </a:rPr>
              <a:t>4. CR Administrative Burden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Manual Roll-Calls: </a:t>
            </a:r>
            <a:r>
              <a:rPr sz="1100">
                <a:solidFill>
                  <a:srgbClr val="4A5568"/>
                </a:solidFill>
              </a:rPr>
              <a:t>CRs write absent IDs on paper scraps.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Error-Prone SMS: </a:t>
            </a:r>
            <a:r>
              <a:rPr sz="1100">
                <a:solidFill>
                  <a:srgbClr val="4A5568"/>
                </a:solidFill>
              </a:rPr>
              <a:t>Manually typing 10-digit IDs into 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406908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4251960"/>
            <a:ext cx="288036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[ISSUE 5] </a:t>
            </a:r>
            <a:r>
              <a:rPr sz="1400" b="1">
                <a:solidFill>
                  <a:srgbClr val="0A192F"/>
                </a:solidFill>
              </a:rPr>
              <a:t>5. Lack of Concurrency &amp; Audit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Race Conditions: </a:t>
            </a:r>
            <a:r>
              <a:rPr sz="1100">
                <a:solidFill>
                  <a:srgbClr val="4A5568"/>
                </a:solidFill>
              </a:rPr>
              <a:t>Naive databases permit simultaneous claims.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No Accountability: </a:t>
            </a:r>
            <a:r>
              <a:rPr sz="1100">
                <a:solidFill>
                  <a:srgbClr val="4A5568"/>
                </a:solidFill>
              </a:rPr>
              <a:t>Zero audit logs for schedule overrides.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1. INTRODUCTION (OVERVIEW)</a:t>
            </a:r>
            <a:r>
              <a:rPr sz="1000" b="1">
                <a:solidFill>
                  <a:srgbClr val="DD6B20"/>
                </a:solidFill>
              </a:rPr>
              <a:t>   |   SPEAKER 1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UniRoom-Live: Centralized Academic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[CLIENT LAYER] </a:t>
            </a:r>
            <a:r>
              <a:rPr sz="1400" b="1">
                <a:solidFill>
                  <a:srgbClr val="0A192F"/>
                </a:solidFill>
              </a:rPr>
              <a:t>Presentation Client Tier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Flutter Cross-Platform: </a:t>
            </a:r>
            <a:r>
              <a:rPr sz="1100">
                <a:solidFill>
                  <a:srgbClr val="4A5568"/>
                </a:solidFill>
              </a:rPr>
              <a:t>Single codebase compiling to Android, iOS &amp; Web.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60 FPS Smooth UI: </a:t>
            </a:r>
            <a:r>
              <a:rPr sz="1100">
                <a:solidFill>
                  <a:srgbClr val="4A5568"/>
                </a:solidFill>
              </a:rPr>
              <a:t>Reactive Provider state management.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Universal Layout: </a:t>
            </a:r>
            <a:r>
              <a:rPr sz="1100">
                <a:solidFill>
                  <a:srgbClr val="4A5568"/>
                </a:solidFill>
              </a:rPr>
              <a:t>Responsive down to 360px viewport widths.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Offline First: </a:t>
            </a:r>
            <a:r>
              <a:rPr sz="1100">
                <a:solidFill>
                  <a:srgbClr val="4A5568"/>
                </a:solidFill>
              </a:rPr>
              <a:t>Local timetable caching for instant access without data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2584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[BACKEND LAYER] </a:t>
            </a:r>
            <a:r>
              <a:rPr sz="1400" b="1">
                <a:solidFill>
                  <a:srgbClr val="0A192F"/>
                </a:solidFill>
              </a:rPr>
              <a:t>API &amp; Orchestration Tier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NestJS Framework: </a:t>
            </a:r>
            <a:r>
              <a:rPr sz="1100">
                <a:solidFill>
                  <a:srgbClr val="4A5568"/>
                </a:solidFill>
              </a:rPr>
              <a:t>Modular TypeScript enterprise architecture.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Pre-Flight Conflict Engine: </a:t>
            </a:r>
            <a:r>
              <a:rPr sz="1100">
                <a:solidFill>
                  <a:srgbClr val="4A5568"/>
                </a:solidFill>
              </a:rPr>
              <a:t>Triple-check algorithm for rooms, faculty, and batches.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RBAC Security: </a:t>
            </a:r>
            <a:r>
              <a:rPr sz="1100">
                <a:solidFill>
                  <a:srgbClr val="4A5568"/>
                </a:solidFill>
              </a:rPr>
              <a:t>Strict 5-tier role enforcement via JWT.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Notification Engine: </a:t>
            </a:r>
            <a:r>
              <a:rPr sz="1100">
                <a:solidFill>
                  <a:srgbClr val="4A5568"/>
                </a:solidFill>
              </a:rPr>
              <a:t>Instant Firebase Cloud Messaging (FCM) &amp; SMTP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[DATA LAYER] </a:t>
            </a:r>
            <a:r>
              <a:rPr sz="1400" b="1">
                <a:solidFill>
                  <a:srgbClr val="0A192F"/>
                </a:solidFill>
              </a:rPr>
              <a:t>Data &amp; Event Persistence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Neon Serverless PostgreSQL: </a:t>
            </a:r>
            <a:r>
              <a:rPr sz="1100">
                <a:solidFill>
                  <a:srgbClr val="4A5568"/>
                </a:solidFill>
              </a:rPr>
              <a:t>ACID-compliant relational storage.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Prisma ORM: </a:t>
            </a:r>
            <a:r>
              <a:rPr sz="1100">
                <a:solidFill>
                  <a:srgbClr val="4A5568"/>
                </a:solidFill>
              </a:rPr>
              <a:t>Type-safe database queries and automated migrations.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Atomic Transactions: </a:t>
            </a:r>
            <a:r>
              <a:rPr sz="1100">
                <a:solidFill>
                  <a:srgbClr val="4A5568"/>
                </a:solidFill>
              </a:rPr>
              <a:t>Row-level locks ensuring zero double-booking.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Multi-Tenant Hierarchy: </a:t>
            </a:r>
            <a:r>
              <a:rPr sz="1100">
                <a:solidFill>
                  <a:srgbClr val="4A5568"/>
                </a:solidFill>
              </a:rPr>
              <a:t>Isolates campuses, buildings, departments, and batches.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3. OBJECTIVES</a:t>
            </a:r>
            <a:r>
              <a:rPr sz="1000" b="1">
                <a:solidFill>
                  <a:srgbClr val="DD6B20"/>
                </a:solidFill>
              </a:rPr>
              <a:t>   |   SPEAKER 1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Project Objectives (All Starting with 'To')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34440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[CORE OBJECTIVE] </a:t>
            </a:r>
            <a:r>
              <a:rPr sz="1400" b="1">
                <a:solidFill>
                  <a:srgbClr val="0A192F"/>
                </a:solidFill>
              </a:rPr>
              <a:t>PRIMARY STRATEGIC OBJECTIVE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design and implement a multi-tenant, cloud-synchronized real-time classroom orchestration and dynamic academic schedule management platform that unifies students, faculty members, and campus administrators under a single authoritative digital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2120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[TECHNICAL AIMS] </a:t>
            </a:r>
            <a:r>
              <a:rPr sz="1400" b="1">
                <a:solidFill>
                  <a:srgbClr val="0A192F"/>
                </a:solidFill>
              </a:rPr>
              <a:t>Specific Technical Objectives (Part A)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develop an Optimistic Concurrency Control (OCC) and atomic transactional booking engine to eliminate race conditions and prevent double-booking.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formulate an intelligent pre-flight conflict detection algorithm that cross-evaluates room, faculty, and batch schedules prior to database save.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engineer an automated push notification pipeline using FCM and SMTP to broadcast schedule updates instantly.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implement a dynamic room release mechanism that liberates unoccupied physical spaces, eliminating 'ghost occupancy'.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63240"/>
            <a:ext cx="52120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24612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[OPERATIONAL AIMS] </a:t>
            </a:r>
            <a:r>
              <a:rPr sz="1400" b="1">
                <a:solidFill>
                  <a:srgbClr val="0A192F"/>
                </a:solidFill>
              </a:rPr>
              <a:t>Specific Technical Objectives (Part B)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build a streamlined CR attendance utility featuring a rapid keypad and automatic SMS generation to eliminate manual transcription.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establish a secure, multi-tenant Role-Based Access Control (RBAC) security architecture powered by JWT and Bcrypt hashing.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create a high-performance cross-platform Flutter client optimized down to 360px viewport widths with offline routine caching.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To </a:t>
            </a:r>
            <a:r>
              <a:rPr sz="1100">
                <a:solidFill>
                  <a:srgbClr val="4A5568"/>
                </a:solidFill>
              </a:rPr>
              <a:t>evaluate system latency, reliability, and usability through load simulations and stakeholder trials at Uttara University.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4. PROJECT SCOPE</a:t>
            </a:r>
            <a:r>
              <a:rPr sz="1000" b="1">
                <a:solidFill>
                  <a:srgbClr val="DD6B20"/>
                </a:solidFill>
              </a:rPr>
              <a:t>   |   SPEAKER 2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Project Scope: Core Deliverables vs. Future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[IN-SCOPE] </a:t>
            </a:r>
            <a:r>
              <a:rPr sz="1400" b="1">
                <a:solidFill>
                  <a:srgbClr val="0A192F"/>
                </a:solidFill>
              </a:rPr>
              <a:t>In-Scope Deliverables (Version 2.0)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Multi-Tenant Hierarchy: </a:t>
            </a:r>
            <a:r>
              <a:rPr sz="1100">
                <a:solidFill>
                  <a:srgbClr val="4A5568"/>
                </a:solidFill>
              </a:rPr>
              <a:t>Institutions, Campuses, Buildings, Rooms, Departments, Batches.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Master Timetable Engine: </a:t>
            </a:r>
            <a:r>
              <a:rPr sz="1100">
                <a:solidFill>
                  <a:srgbClr val="4A5568"/>
                </a:solidFill>
              </a:rPr>
              <a:t>Weekly routine authoring with multi-parameter filtering.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Pre-Flight Conflict Matrix: </a:t>
            </a:r>
            <a:r>
              <a:rPr sz="1100">
                <a:solidFill>
                  <a:srgbClr val="4A5568"/>
                </a:solidFill>
              </a:rPr>
              <a:t>Triple-check validation (Room, Faculty, Batch).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Live Vacancy &amp; OCC Booking: </a:t>
            </a:r>
            <a:r>
              <a:rPr sz="1100">
                <a:solidFill>
                  <a:srgbClr val="4A5568"/>
                </a:solidFill>
              </a:rPr>
              <a:t>Real-time room search and concurrency-safe locking.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Dynamic Early Release: </a:t>
            </a:r>
            <a:r>
              <a:rPr sz="1100">
                <a:solidFill>
                  <a:srgbClr val="4A5568"/>
                </a:solidFill>
              </a:rPr>
              <a:t>Early checkout workflow liberating unused spaces.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CR Attendance Suite: </a:t>
            </a:r>
            <a:r>
              <a:rPr sz="1100">
                <a:solidFill>
                  <a:srgbClr val="4A5568"/>
                </a:solidFill>
              </a:rPr>
              <a:t>Rapid absent roll keypad &amp; automatic SMS generator.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5-Tier RBAC &amp; JWT: </a:t>
            </a:r>
            <a:r>
              <a:rPr sz="1100">
                <a:solidFill>
                  <a:srgbClr val="4A5568"/>
                </a:solidFill>
              </a:rPr>
              <a:t>Granular permission security across all user roles.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Responsive Flutter Client: </a:t>
            </a:r>
            <a:r>
              <a:rPr sz="1100">
                <a:solidFill>
                  <a:srgbClr val="4A5568"/>
                </a:solidFill>
              </a:rPr>
              <a:t>Universal rendering optimized for 360px+ mobile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[OUT-OF-SCOPE] </a:t>
            </a:r>
            <a:r>
              <a:rPr sz="1400" b="1">
                <a:solidFill>
                  <a:srgbClr val="0A192F"/>
                </a:solidFill>
              </a:rPr>
              <a:t>Out-of-Scope (Future Iterations)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IoT Smart Door Hardware: </a:t>
            </a:r>
            <a:r>
              <a:rPr sz="1100">
                <a:solidFill>
                  <a:srgbClr val="4A5568"/>
                </a:solidFill>
              </a:rPr>
              <a:t>Direct electronic solenoid locks and microcontroller turnstiles (Earmarked for Version 3.0 IoT Integration).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Biometric Scanner Terminals: </a:t>
            </a:r>
            <a:r>
              <a:rPr sz="1100">
                <a:solidFill>
                  <a:srgbClr val="4A5568"/>
                </a:solidFill>
              </a:rPr>
              <a:t>Dedicated physical optical fingerprint or infrared facial recognition hardware.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Commercial Payment Gateway: </a:t>
            </a:r>
            <a:r>
              <a:rPr sz="1100">
                <a:solidFill>
                  <a:srgbClr val="4A5568"/>
                </a:solidFill>
              </a:rPr>
              <a:t>Financial billing for commercial venue rentals.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Automated AI Schedule Synthesis: </a:t>
            </a:r>
            <a:r>
              <a:rPr sz="1100">
                <a:solidFill>
                  <a:srgbClr val="4A5568"/>
                </a:solidFill>
              </a:rPr>
              <a:t>Algorithmic routine generation via genetic algorithms (conflict detection is active; AI generation is future work).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Focus Rationale: </a:t>
            </a:r>
            <a:r>
              <a:rPr sz="1100">
                <a:solidFill>
                  <a:srgbClr val="4A5568"/>
                </a:solidFill>
              </a:rPr>
              <a:t>Ensures production-grade software stability, data integrity, and rapid student adoption.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5. METHODOLOGY (SDLC)</a:t>
            </a:r>
            <a:r>
              <a:rPr sz="1000" b="1">
                <a:solidFill>
                  <a:srgbClr val="DD6B20"/>
                </a:solidFill>
              </a:rPr>
              <a:t>   |   SPEAKER 2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Development Methodology: Agile / Scrum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[FRAMEWORK RATIONALE] </a:t>
            </a:r>
            <a:r>
              <a:rPr sz="1400" b="1">
                <a:solidFill>
                  <a:srgbClr val="0A192F"/>
                </a:solidFill>
              </a:rPr>
              <a:t>Agile Framework Overview (8 Sprints / 16 Weeks)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Iterative Cadence: </a:t>
            </a:r>
            <a:r>
              <a:rPr sz="1100">
                <a:solidFill>
                  <a:srgbClr val="4A5568"/>
                </a:solidFill>
              </a:rPr>
              <a:t>Two-week sprints combining backlog prioritization, continuous implementation, and stakeholder reviews with Uttara University CRs and faculty.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Why Agile: </a:t>
            </a:r>
            <a:r>
              <a:rPr sz="1100">
                <a:solidFill>
                  <a:srgbClr val="4A5568"/>
                </a:solidFill>
              </a:rPr>
              <a:t>Academic workflows require real-world feedback loops to eliminate UI bottlenecks and refine edge-case scheduling conflict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[SPRINTS 1 - 4] </a:t>
            </a:r>
            <a:r>
              <a:rPr sz="1400" b="1">
                <a:solidFill>
                  <a:srgbClr val="0A192F"/>
                </a:solidFill>
              </a:rPr>
              <a:t>Sprint Timeline: Phases 1 to 4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1 (Weeks 1-2): </a:t>
            </a:r>
            <a:r>
              <a:rPr sz="1100">
                <a:solidFill>
                  <a:srgbClr val="4A5568"/>
                </a:solidFill>
              </a:rPr>
              <a:t>Domain modeling, ER diagram, Prisma schema &amp; repository setup.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2 (Weeks 3-4): </a:t>
            </a:r>
            <a:r>
              <a:rPr sz="1100">
                <a:solidFill>
                  <a:srgbClr val="4A5568"/>
                </a:solidFill>
              </a:rPr>
              <a:t>Multi-tenant auth, Bcrypt hashing, JWT tokens &amp; role guards.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3 (Weeks 5-6): </a:t>
            </a:r>
            <a:r>
              <a:rPr sz="1100">
                <a:solidFill>
                  <a:srgbClr val="4A5568"/>
                </a:solidFill>
              </a:rPr>
              <a:t>Routine engine, timetable filters &amp; pre-flight conflict validator.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4 (Weeks 7-8): </a:t>
            </a:r>
            <a:r>
              <a:rPr sz="1100">
                <a:solidFill>
                  <a:srgbClr val="4A5568"/>
                </a:solidFill>
              </a:rPr>
              <a:t>Live room search, atomic reservation &amp; early-release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20040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[SPRINTS 5 - 8] </a:t>
            </a:r>
            <a:r>
              <a:rPr sz="1400" b="1">
                <a:solidFill>
                  <a:srgbClr val="0A192F"/>
                </a:solidFill>
              </a:rPr>
              <a:t>Sprint Timeline: Phases 5 to 8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5 (Weeks 9-10): </a:t>
            </a:r>
            <a:r>
              <a:rPr sz="1100">
                <a:solidFill>
                  <a:srgbClr val="4A5568"/>
                </a:solidFill>
              </a:rPr>
              <a:t>CR attendance keypad, statistics widget &amp; telephony SMS engine.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6 (Weeks 11-12): </a:t>
            </a:r>
            <a:r>
              <a:rPr sz="1100">
                <a:solidFill>
                  <a:srgbClr val="4A5568"/>
                </a:solidFill>
              </a:rPr>
              <a:t>Flutter UI refactoring, 360px overflow fixes &amp; offline caching.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7 (Weeks 13-14): </a:t>
            </a:r>
            <a:r>
              <a:rPr sz="1100">
                <a:solidFill>
                  <a:srgbClr val="4A5568"/>
                </a:solidFill>
              </a:rPr>
              <a:t>Firebase Cloud Messaging (FCM) &amp; SMTP event-driven alerts.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Sprint 8 (Weeks 15-16): </a:t>
            </a:r>
            <a:r>
              <a:rPr sz="1100">
                <a:solidFill>
                  <a:srgbClr val="4A5568"/>
                </a:solidFill>
              </a:rPr>
              <a:t>Concurrency stress testing, Jest integration suites, UAT &amp; rollout.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5. METHODOLOGY (ARCHITECTURE)</a:t>
            </a:r>
            <a:r>
              <a:rPr sz="1000" b="1">
                <a:solidFill>
                  <a:srgbClr val="DD6B20"/>
                </a:solidFill>
              </a:rPr>
              <a:t>   |   SPEAKER 2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System Architecture: Decoupled Three-Tier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[CLIENT TIER] </a:t>
            </a:r>
            <a:r>
              <a:rPr sz="1400" b="1">
                <a:solidFill>
                  <a:srgbClr val="0A192F"/>
                </a:solidFill>
              </a:rPr>
              <a:t>Tier 1: Presentation Layer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Flutter Cross-Platform: </a:t>
            </a:r>
            <a:r>
              <a:rPr sz="1100">
                <a:solidFill>
                  <a:srgbClr val="4A5568"/>
                </a:solidFill>
              </a:rPr>
              <a:t>Android, iOS, PWA, Desktop.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Adaptive Layout Builders: </a:t>
            </a:r>
            <a:r>
              <a:rPr sz="1100">
                <a:solidFill>
                  <a:srgbClr val="4A5568"/>
                </a:solidFill>
              </a:rPr>
              <a:t>Dynamic scaling, flexible flex, safe-area wrappers.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Provider State Engine: </a:t>
            </a:r>
            <a:r>
              <a:rPr sz="1100">
                <a:solidFill>
                  <a:srgbClr val="4A5568"/>
                </a:solidFill>
              </a:rPr>
              <a:t>Reactive, decoupled UI state synchronization.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Local Persistence: </a:t>
            </a:r>
            <a:r>
              <a:rPr sz="1100">
                <a:solidFill>
                  <a:srgbClr val="4A5568"/>
                </a:solidFill>
              </a:rPr>
              <a:t>Encrypted token store and cached routine 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2584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[API TIER] </a:t>
            </a:r>
            <a:r>
              <a:rPr sz="1400" b="1">
                <a:solidFill>
                  <a:srgbClr val="0A192F"/>
                </a:solidFill>
              </a:rPr>
              <a:t>Tier 2: Application / API Layer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NestJS Framework: </a:t>
            </a:r>
            <a:r>
              <a:rPr sz="1100">
                <a:solidFill>
                  <a:srgbClr val="4A5568"/>
                </a:solidFill>
              </a:rPr>
              <a:t>TypeScript enterprise modular controller/service structure.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Guards &amp; Pipes: </a:t>
            </a:r>
            <a:r>
              <a:rPr sz="1100">
                <a:solidFill>
                  <a:srgbClr val="4A5568"/>
                </a:solidFill>
              </a:rPr>
              <a:t>JwtAuthGuard, RolesGuard, class-validator DTO validation.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Concurrency Manager: </a:t>
            </a:r>
            <a:r>
              <a:rPr sz="1100">
                <a:solidFill>
                  <a:srgbClr val="4A5568"/>
                </a:solidFill>
              </a:rPr>
              <a:t>Atomic transaction boundaries (prisma.$transaction).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Notification Dispatcher: </a:t>
            </a:r>
            <a:r>
              <a:rPr sz="1100">
                <a:solidFill>
                  <a:srgbClr val="4A5568"/>
                </a:solidFill>
              </a:rPr>
              <a:t>FCM push notifications and Nodemailer SMTP.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[DATA TIER] </a:t>
            </a:r>
            <a:r>
              <a:rPr sz="1400" b="1">
                <a:solidFill>
                  <a:srgbClr val="0A192F"/>
                </a:solidFill>
              </a:rPr>
              <a:t>Tier 3: Data &amp; Messaging Layer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Neon PostgreSQL: </a:t>
            </a:r>
            <a:r>
              <a:rPr sz="1100">
                <a:solidFill>
                  <a:srgbClr val="4A5568"/>
                </a:solidFill>
              </a:rPr>
              <a:t>ACID transactions with row-level locking isolation.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Prisma ORM: </a:t>
            </a:r>
            <a:r>
              <a:rPr sz="1100">
                <a:solidFill>
                  <a:srgbClr val="4A5568"/>
                </a:solidFill>
              </a:rPr>
              <a:t>Type-safe database client and automated migrations.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Firebase Cloud Messaging: </a:t>
            </a:r>
            <a:r>
              <a:rPr sz="1100">
                <a:solidFill>
                  <a:srgbClr val="4A5568"/>
                </a:solidFill>
              </a:rPr>
              <a:t>Device token registry &amp; push broadcasts.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Cellular Telephony: </a:t>
            </a:r>
            <a:r>
              <a:rPr sz="1100">
                <a:solidFill>
                  <a:srgbClr val="4A5568"/>
                </a:solidFill>
              </a:rPr>
              <a:t>Device-native SMS intent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5. METHODOLOGY (DATA MODELING)</a:t>
            </a:r>
            <a:r>
              <a:rPr sz="1000" b="1">
                <a:solidFill>
                  <a:srgbClr val="DD6B20"/>
                </a:solidFill>
              </a:rPr>
              <a:t>   |   SPEAKER 2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Relational Data Model &amp; Multi-Tenancy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[SCHEMA ENTITIES] </a:t>
            </a:r>
            <a:r>
              <a:rPr sz="1400" b="1">
                <a:solidFill>
                  <a:srgbClr val="0A192F"/>
                </a:solidFill>
              </a:rPr>
              <a:t>Multi-Tenant Domain Entities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1. Institutions: </a:t>
            </a:r>
            <a:r>
              <a:rPr sz="1100">
                <a:solidFill>
                  <a:srgbClr val="4A5568"/>
                </a:solidFill>
              </a:rPr>
              <a:t>Top-level tenant isolation (Uttara University).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2. Campuses &amp; Buildings: </a:t>
            </a:r>
            <a:r>
              <a:rPr sz="1100">
                <a:solidFill>
                  <a:srgbClr val="4A5568"/>
                </a:solidFill>
              </a:rPr>
              <a:t>Physical infrastructure distribution.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3. Rooms: </a:t>
            </a:r>
            <a:r>
              <a:rPr sz="1100">
                <a:solidFill>
                  <a:srgbClr val="4A5568"/>
                </a:solidFill>
              </a:rPr>
              <a:t>Floor indexing, capacity limits, and categorization.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4. Departments &amp; Programs: </a:t>
            </a:r>
            <a:r>
              <a:rPr sz="1100">
                <a:solidFill>
                  <a:srgbClr val="4A5568"/>
                </a:solidFill>
              </a:rPr>
              <a:t>Academic structures (CSE, EEE, BBA).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5. Batches &amp; Sections: </a:t>
            </a:r>
            <a:r>
              <a:rPr sz="1100">
                <a:solidFill>
                  <a:srgbClr val="4A5568"/>
                </a:solidFill>
              </a:rPr>
              <a:t>Student cohorts linked to department nodes.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6. Users &amp; Roles: </a:t>
            </a:r>
            <a:r>
              <a:rPr sz="1100">
                <a:solidFill>
                  <a:srgbClr val="4A5568"/>
                </a:solidFill>
              </a:rPr>
              <a:t>SUPERADMIN, ADMIN, FACULTY, CR, STUDENT.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7. Routines &amp; Bookings: </a:t>
            </a:r>
            <a:r>
              <a:rPr sz="1100">
                <a:solidFill>
                  <a:srgbClr val="4A5568"/>
                </a:solidFill>
              </a:rPr>
              <a:t>Master schedule slots vs. dynamic reservations.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8. AttendanceLogs: </a:t>
            </a:r>
            <a:r>
              <a:rPr sz="1100">
                <a:solidFill>
                  <a:srgbClr val="4A5568"/>
                </a:solidFill>
              </a:rPr>
              <a:t>CR absent rolls and session headcounts.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[CONFLICT VALIDATION] </a:t>
            </a:r>
            <a:r>
              <a:rPr sz="1400" b="1">
                <a:solidFill>
                  <a:srgbClr val="0A192F"/>
                </a:solidFill>
              </a:rPr>
              <a:t>Pre-Flight Conflict Detection Matrix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Automated Triple-Check Algorithm: </a:t>
            </a:r>
            <a:r>
              <a:rPr sz="1100">
                <a:solidFill>
                  <a:srgbClr val="4A5568"/>
                </a:solidFill>
              </a:rPr>
              <a:t>Every routine creation or edit is cross-examined against three simultaneous dimensions: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1. Room Collision: </a:t>
            </a:r>
            <a:r>
              <a:rPr sz="1100">
                <a:solidFill>
                  <a:srgbClr val="4A5568"/>
                </a:solidFill>
              </a:rPr>
              <a:t>Is the physical room already booked for another batch during this time window?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2. Faculty Collision: </a:t>
            </a:r>
            <a:r>
              <a:rPr sz="1100">
                <a:solidFill>
                  <a:srgbClr val="4A5568"/>
                </a:solidFill>
              </a:rPr>
              <a:t>Is the course instructor assigned to another lecture or campus simultaneously?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3. Batch Collision: </a:t>
            </a:r>
            <a:r>
              <a:rPr sz="1100">
                <a:solidFill>
                  <a:srgbClr val="4A5568"/>
                </a:solidFill>
              </a:rPr>
              <a:t>Does the student cohort have another overlapping lecture or laboratory session?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Result: </a:t>
            </a:r>
            <a:r>
              <a:rPr sz="1100">
                <a:solidFill>
                  <a:srgbClr val="4A5568"/>
                </a:solidFill>
              </a:rPr>
              <a:t>Zero schedule overlaps can be written to the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5. METHODOLOGY (CONCURRENCY)</a:t>
            </a:r>
            <a:r>
              <a:rPr sz="1000" b="1">
                <a:solidFill>
                  <a:srgbClr val="DD6B20"/>
                </a:solidFill>
              </a:rPr>
              <a:t>   |   SPEAKER 2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Optimistic Concurrency Control (OCC) Booking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[OCC EQUATION] </a:t>
            </a:r>
            <a:r>
              <a:rPr sz="1400" b="1">
                <a:solidFill>
                  <a:srgbClr val="0A192F"/>
                </a:solidFill>
              </a:rPr>
              <a:t>The Mathematical Overlap Detection Formula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Collision Condition: </a:t>
            </a:r>
            <a:r>
              <a:rPr sz="1100">
                <a:solidFill>
                  <a:srgbClr val="4A5568"/>
                </a:solidFill>
              </a:rPr>
              <a:t>A collision exists if and only if: (ExistingStartTime &lt; RequestedEndTime) AND (ExistingEndTime &gt; RequestedStartTime)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Atomic Isolation: </a:t>
            </a:r>
            <a:r>
              <a:rPr sz="1100">
                <a:solidFill>
                  <a:srgbClr val="4A5568"/>
                </a:solidFill>
              </a:rPr>
              <a:t>All reservation requests run inside an atomic database transaction. If any overlap exists on an approved, unreleased booking, the request is immediately rejected with HTTP 409 Conflict.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2120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8328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[WITHOUT OCC] </a:t>
            </a:r>
            <a:r>
              <a:rPr sz="1400" b="1">
                <a:solidFill>
                  <a:srgbClr val="0A192F"/>
                </a:solidFill>
              </a:rPr>
              <a:t>How Naive Systems Fail (Race Condition)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Step 1: </a:t>
            </a:r>
            <a:r>
              <a:rPr sz="1100">
                <a:solidFill>
                  <a:srgbClr val="4A5568"/>
                </a:solidFill>
              </a:rPr>
              <a:t>CR A and CR B both view Room 402 as empty.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Step 2: </a:t>
            </a:r>
            <a:r>
              <a:rPr sz="1100">
                <a:solidFill>
                  <a:srgbClr val="4A5568"/>
                </a:solidFill>
              </a:rPr>
              <a:t>Both submit booking requests within 10ms of each other.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Step 3 (Naive): </a:t>
            </a:r>
            <a:r>
              <a:rPr sz="1100">
                <a:solidFill>
                  <a:srgbClr val="4A5568"/>
                </a:solidFill>
              </a:rPr>
              <a:t>Both queries see '0 rows', and both write 'APPROVED'.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Disaster: </a:t>
            </a:r>
            <a:r>
              <a:rPr sz="1100">
                <a:solidFill>
                  <a:srgbClr val="4A5568"/>
                </a:solidFill>
              </a:rPr>
              <a:t>Double-booking occurs! Two cohorts fight over Room 402.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2120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3383280"/>
            <a:ext cx="47548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[WITH UNIROOM OCC] </a:t>
            </a:r>
            <a:r>
              <a:rPr sz="1400" b="1">
                <a:solidFill>
                  <a:srgbClr val="0A192F"/>
                </a:solidFill>
              </a:rPr>
              <a:t>How UniRoom-Live Prevents Collisions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Step 1: </a:t>
            </a:r>
            <a:r>
              <a:rPr sz="1100">
                <a:solidFill>
                  <a:srgbClr val="4A5568"/>
                </a:solidFill>
              </a:rPr>
              <a:t>Both requests enter isolated Prisma transactions.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Step 2: </a:t>
            </a:r>
            <a:r>
              <a:rPr sz="1100">
                <a:solidFill>
                  <a:srgbClr val="4A5568"/>
                </a:solidFill>
              </a:rPr>
              <a:t>Transaction A secures the reservation atomically.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Step 3 (UniRoom): </a:t>
            </a:r>
            <a:r>
              <a:rPr sz="1100">
                <a:solidFill>
                  <a:srgbClr val="4A5568"/>
                </a:solidFill>
              </a:rPr>
              <a:t>Transaction B detects the active booking and aborts.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Success: </a:t>
            </a:r>
            <a:r>
              <a:rPr sz="1100">
                <a:solidFill>
                  <a:srgbClr val="4A5568"/>
                </a:solidFill>
              </a:rPr>
              <a:t>CR A gets Room 402; CR B receives an instant 409 Conflict alert.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5. METHODOLOGY (TECH STACK)</a:t>
            </a:r>
            <a:r>
              <a:rPr sz="1000" b="1">
                <a:solidFill>
                  <a:srgbClr val="DD6B20"/>
                </a:solidFill>
              </a:rPr>
              <a:t>   |   SPEAKER 2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Technology Stack &amp; Engineering Justifications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[CLIENT STACK] </a:t>
            </a:r>
            <a:r>
              <a:rPr sz="1400" b="1">
                <a:solidFill>
                  <a:srgbClr val="0A192F"/>
                </a:solidFill>
              </a:rPr>
              <a:t>Frontend &amp; State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Flutter 3.x / Dart: </a:t>
            </a:r>
            <a:r>
              <a:rPr sz="1100">
                <a:solidFill>
                  <a:srgbClr val="4A5568"/>
                </a:solidFill>
              </a:rPr>
              <a:t>High-performance native rendering across mobile &amp; web.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Provider (^6.1.0): </a:t>
            </a:r>
            <a:r>
              <a:rPr sz="1100">
                <a:solidFill>
                  <a:srgbClr val="4A5568"/>
                </a:solidFill>
              </a:rPr>
              <a:t>Lightweight, reactive state tree without boilerplate overhead.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url_launcher: </a:t>
            </a:r>
            <a:r>
              <a:rPr sz="1100">
                <a:solidFill>
                  <a:srgbClr val="4A5568"/>
                </a:solidFill>
              </a:rPr>
              <a:t>Hardware telephony intent for direct SMS creation.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Responsive Layout: </a:t>
            </a:r>
            <a:r>
              <a:rPr sz="1100">
                <a:solidFill>
                  <a:srgbClr val="4A5568"/>
                </a:solidFill>
              </a:rPr>
              <a:t>Fluid flex, safe-area and 360px viewport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2584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[SERVER STACK] </a:t>
            </a:r>
            <a:r>
              <a:rPr sz="1400" b="1">
                <a:solidFill>
                  <a:srgbClr val="0A192F"/>
                </a:solidFill>
              </a:rPr>
              <a:t>Backend &amp; Logic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NestJS 10.x: </a:t>
            </a:r>
            <a:r>
              <a:rPr sz="1100">
                <a:solidFill>
                  <a:srgbClr val="4A5568"/>
                </a:solidFill>
              </a:rPr>
              <a:t>Enterprise TypeScript architecture, DI, and modular structure.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Prisma ORM 5.x: </a:t>
            </a:r>
            <a:r>
              <a:rPr sz="1100">
                <a:solidFill>
                  <a:srgbClr val="4A5568"/>
                </a:solidFill>
              </a:rPr>
              <a:t>Declarative schema modeling and compile-time type safety.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Passport-JWT &amp; Bcrypt: </a:t>
            </a:r>
            <a:r>
              <a:rPr sz="1100">
                <a:solidFill>
                  <a:srgbClr val="4A5568"/>
                </a:solidFill>
              </a:rPr>
              <a:t>Stateless, horizontally scalable authentication.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FCM Admin SDK: </a:t>
            </a:r>
            <a:r>
              <a:rPr sz="1100">
                <a:solidFill>
                  <a:srgbClr val="4A5568"/>
                </a:solidFill>
              </a:rPr>
              <a:t>Reliable cross-platform push notification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[INFRASTRUCTURE] </a:t>
            </a:r>
            <a:r>
              <a:rPr sz="1400" b="1">
                <a:solidFill>
                  <a:srgbClr val="0A192F"/>
                </a:solidFill>
              </a:rPr>
              <a:t>Database &amp; DevOps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PostgreSQL (Neon): </a:t>
            </a:r>
            <a:r>
              <a:rPr sz="1100">
                <a:solidFill>
                  <a:srgbClr val="4A5568"/>
                </a:solidFill>
              </a:rPr>
              <a:t>Cloud serverless relational database with ACID safety.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Row-Level Locking: </a:t>
            </a:r>
            <a:r>
              <a:rPr sz="1100">
                <a:solidFill>
                  <a:srgbClr val="4A5568"/>
                </a:solidFill>
              </a:rPr>
              <a:t>Guarantees zero concurrent reservation collisions.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Git &amp; GitHub: </a:t>
            </a:r>
            <a:r>
              <a:rPr sz="1100">
                <a:solidFill>
                  <a:srgbClr val="4A5568"/>
                </a:solidFill>
              </a:rPr>
              <a:t>Strict version control and branch management.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Render Cloud Platform: </a:t>
            </a:r>
            <a:r>
              <a:rPr sz="1100">
                <a:solidFill>
                  <a:srgbClr val="4A5568"/>
                </a:solidFill>
              </a:rPr>
              <a:t>Automated CI/CD build and container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EXECUTION &amp; WORKFLOWS</a:t>
            </a:r>
            <a:r>
              <a:rPr sz="1000" b="1">
                <a:solidFill>
                  <a:srgbClr val="DD6B20"/>
                </a:solidFill>
              </a:rPr>
              <a:t>   |   SPEAKER 3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Core Workflows: Routine Sync &amp; Early Room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[ROUTINE WORKFLOW] </a:t>
            </a:r>
            <a:r>
              <a:rPr sz="1400" b="1">
                <a:solidFill>
                  <a:srgbClr val="0A192F"/>
                </a:solidFill>
              </a:rPr>
              <a:t>Dynamic Routine Synchronization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1. Multi-Parameter Filtering: </a:t>
            </a:r>
            <a:r>
              <a:rPr sz="1100">
                <a:solidFill>
                  <a:srgbClr val="4A5568"/>
                </a:solidFill>
              </a:rPr>
              <a:t>Students and instructors filter routines by day, semester, batch, and instructor ID.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2. Instant Update Propagation: </a:t>
            </a:r>
            <a:r>
              <a:rPr sz="1100">
                <a:solidFill>
                  <a:srgbClr val="4A5568"/>
                </a:solidFill>
              </a:rPr>
              <a:t>When an admin or instructor modifies a routine, affected student devices receive FCM background push alerts.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3. Local Offline Caching: </a:t>
            </a:r>
            <a:r>
              <a:rPr sz="1100">
                <a:solidFill>
                  <a:srgbClr val="4A5568"/>
                </a:solidFill>
              </a:rPr>
              <a:t>Timetable data is cached in SQLite/SharedPreferences, allowing consultation during campus network outages.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4. Zero Confusion: </a:t>
            </a:r>
            <a:r>
              <a:rPr sz="1100">
                <a:solidFill>
                  <a:srgbClr val="4A5568"/>
                </a:solidFill>
              </a:rPr>
              <a:t>Students always possess an authoritative, verified schedule on their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[ROOM RELEASE] </a:t>
            </a:r>
            <a:r>
              <a:rPr sz="1400" b="1">
                <a:solidFill>
                  <a:srgbClr val="0A192F"/>
                </a:solidFill>
              </a:rPr>
              <a:t>Early Room Release Engine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The Problem Solved: </a:t>
            </a:r>
            <a:r>
              <a:rPr sz="1100">
                <a:solidFill>
                  <a:srgbClr val="4A5568"/>
                </a:solidFill>
              </a:rPr>
              <a:t>Lectures ending 30 minutes early traditionally leave rooms marked 'Occupied' on paper.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One-Tap Early Checkout: </a:t>
            </a:r>
            <a:r>
              <a:rPr sz="1100">
                <a:solidFill>
                  <a:srgbClr val="4A5568"/>
                </a:solidFill>
              </a:rPr>
              <a:t>Instructors or booking CRs tap 'Release Room' upon early conclusion.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Instant State Flip: </a:t>
            </a:r>
            <a:r>
              <a:rPr sz="1100">
                <a:solidFill>
                  <a:srgbClr val="4A5568"/>
                </a:solidFill>
              </a:rPr>
              <a:t>The backend flags the reservation as released and recalculates vacancy immediately.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Campus Efficiency: </a:t>
            </a:r>
            <a:r>
              <a:rPr sz="1100">
                <a:solidFill>
                  <a:srgbClr val="4A5568"/>
                </a:solidFill>
              </a:rPr>
              <a:t>Vacant physical rooms become bookable instantly by other waiting batches.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EXECUTION &amp; WORKFLOWS</a:t>
            </a:r>
            <a:r>
              <a:rPr sz="1000" b="1">
                <a:solidFill>
                  <a:srgbClr val="DD6B20"/>
                </a:solidFill>
              </a:rPr>
              <a:t>   |   SPEAKER 3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Class Representative (CR) Attendance &amp; SMS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[RAPID KEYPAD] </a:t>
            </a:r>
            <a:r>
              <a:rPr sz="1400" b="1">
                <a:solidFill>
                  <a:srgbClr val="0A192F"/>
                </a:solidFill>
              </a:rPr>
              <a:t>Rapid Numerical Absent Keypad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Custom Keypad Interface: </a:t>
            </a:r>
            <a:r>
              <a:rPr sz="1100">
                <a:solidFill>
                  <a:srgbClr val="4A5568"/>
                </a:solidFill>
              </a:rPr>
              <a:t>CR taps absent student roll numbers rapidly during 5-minute lecture breaks.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Batch ID Auto-Completion: </a:t>
            </a:r>
            <a:r>
              <a:rPr sz="1100">
                <a:solidFill>
                  <a:srgbClr val="4A5568"/>
                </a:solidFill>
              </a:rPr>
              <a:t>Prefixes (e.g., 223030...) are applied automatically; CR enters only the last 2 digits.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Instant Absent Chips: </a:t>
            </a:r>
            <a:r>
              <a:rPr sz="1100">
                <a:solidFill>
                  <a:srgbClr val="4A5568"/>
                </a:solidFill>
              </a:rPr>
              <a:t>Recorded absent IDs appear as interactive chips that can be tapped to remove.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Headcount Summary: </a:t>
            </a:r>
            <a:r>
              <a:rPr sz="1100">
                <a:solidFill>
                  <a:srgbClr val="4A5568"/>
                </a:solidFill>
              </a:rPr>
              <a:t>Real-time calculation of Total Students, Present Count, Absent Count, and Attendance Percentage.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[TELEPHONY SMS] </a:t>
            </a:r>
            <a:r>
              <a:rPr sz="1400" b="1">
                <a:solidFill>
                  <a:srgbClr val="0A192F"/>
                </a:solidFill>
              </a:rPr>
              <a:t>Automated Cellular SMS Integration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Zero Manual Typing: </a:t>
            </a:r>
            <a:r>
              <a:rPr sz="1100">
                <a:solidFill>
                  <a:srgbClr val="4A5568"/>
                </a:solidFill>
              </a:rPr>
              <a:t>Eliminates the error-prone task of transcribing student IDs into phones.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Hardware Intent Launch: </a:t>
            </a:r>
            <a:r>
              <a:rPr sz="1100">
                <a:solidFill>
                  <a:srgbClr val="4A5568"/>
                </a:solidFill>
              </a:rPr>
              <a:t>UniRoom launches the native Android/iOS SMS app with a single tap.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Pre-Populated Message: </a:t>
            </a:r>
            <a:r>
              <a:rPr sz="1100">
                <a:solidFill>
                  <a:srgbClr val="4A5568"/>
                </a:solidFill>
              </a:rPr>
              <a:t>Course Code, Date, Batch, and comma-separated Absent Rolls are pre-filled.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Instructor Telephony: </a:t>
            </a:r>
            <a:r>
              <a:rPr sz="1100">
                <a:solidFill>
                  <a:srgbClr val="4A5568"/>
                </a:solidFill>
              </a:rPr>
              <a:t>Faculty phone number is automatically looked up and set as the recipient.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Zero Gateway Costs: </a:t>
            </a:r>
            <a:r>
              <a:rPr sz="1100">
                <a:solidFill>
                  <a:srgbClr val="4A5568"/>
                </a:solidFill>
              </a:rPr>
              <a:t>Uses standard SIM SMS allowances without requiring third-party SMS aggregator fees.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EXECUTION &amp; UI/UX</a:t>
            </a:r>
            <a:r>
              <a:rPr sz="1000" b="1">
                <a:solidFill>
                  <a:srgbClr val="DD6B20"/>
                </a:solidFill>
              </a:rPr>
              <a:t>   |   SPEAKER 3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Mobile Client: Ultra-Responsive 360px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[RESPONSIVE UI] </a:t>
            </a:r>
            <a:r>
              <a:rPr sz="1400" b="1">
                <a:solidFill>
                  <a:srgbClr val="0A192F"/>
                </a:solidFill>
              </a:rPr>
              <a:t>The 360px Width Engineering Challenge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The Challenge: </a:t>
            </a:r>
            <a:r>
              <a:rPr sz="1100">
                <a:solidFill>
                  <a:srgbClr val="4A5568"/>
                </a:solidFill>
              </a:rPr>
              <a:t>Budget and entry-level smartphones used by university students feature narrow 360px displays.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Previous Failures: </a:t>
            </a:r>
            <a:r>
              <a:rPr sz="1100">
                <a:solidFill>
                  <a:srgbClr val="4A5568"/>
                </a:solidFill>
              </a:rPr>
              <a:t>Text clipped, routine tables overflowed off-screen, and bottom sheets caused RenderFlex errors.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Comprehensive Solution: </a:t>
            </a:r>
            <a:r>
              <a:rPr sz="1100">
                <a:solidFill>
                  <a:srgbClr val="4A5568"/>
                </a:solidFill>
              </a:rPr>
              <a:t>Redesigned all dialogs and screens with responsive constraints: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• Wrap Widgets &amp; Flexible Rows: </a:t>
            </a:r>
            <a:r>
              <a:rPr sz="1100">
                <a:solidFill>
                  <a:srgbClr val="4A5568"/>
                </a:solidFill>
              </a:rPr>
              <a:t>Prevent horizontal row pixel overflow.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• SingleChildScrollView Wrappers: </a:t>
            </a:r>
            <a:r>
              <a:rPr sz="1100">
                <a:solidFill>
                  <a:srgbClr val="4A5568"/>
                </a:solidFill>
              </a:rPr>
              <a:t>Prevent keyboard popup overflow errors.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• Scaled Typography &amp; Touch Targets: </a:t>
            </a:r>
            <a:r>
              <a:rPr sz="1100">
                <a:solidFill>
                  <a:srgbClr val="4A5568"/>
                </a:solidFill>
              </a:rPr>
              <a:t>Ensure accessibility on compact displays.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[VERIFIED VIEWPORTS] </a:t>
            </a:r>
            <a:r>
              <a:rPr sz="1400" b="1">
                <a:solidFill>
                  <a:srgbClr val="0A192F"/>
                </a:solidFill>
              </a:rPr>
              <a:t>Verified Screen Dimension Matrix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Compact Smartphones (360px x 640px): </a:t>
            </a:r>
            <a:r>
              <a:rPr sz="1100">
                <a:solidFill>
                  <a:srgbClr val="4A5568"/>
                </a:solidFill>
              </a:rPr>
              <a:t>Zero yellow/black render overflow stripes; full button usability.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Standard Smartphones (390px - 412px): </a:t>
            </a:r>
            <a:r>
              <a:rPr sz="1100">
                <a:solidFill>
                  <a:srgbClr val="4A5568"/>
                </a:solidFill>
              </a:rPr>
              <a:t>Optimal typography spacing and fluid card proportions.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Tablets &amp; Desktops (768px - 1080p): </a:t>
            </a:r>
            <a:r>
              <a:rPr sz="1100">
                <a:solidFill>
                  <a:srgbClr val="4A5568"/>
                </a:solidFill>
              </a:rPr>
              <a:t>Adaptive grid multi-column layout with responsive sidebars.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Dark &amp; Light Mode Support: </a:t>
            </a:r>
            <a:r>
              <a:rPr sz="1100">
                <a:solidFill>
                  <a:srgbClr val="4A5568"/>
                </a:solidFill>
              </a:rPr>
              <a:t>High-contrast academic theme optimized for outdoor campus sunlight.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5. METHODOLOGY (QA &amp; RESULTS)</a:t>
            </a:r>
            <a:r>
              <a:rPr sz="1000" b="1">
                <a:solidFill>
                  <a:srgbClr val="DD6B20"/>
                </a:solidFill>
              </a:rPr>
              <a:t>   |   SPEAKER 3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Testing, Verification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[JEST SUITE] </a:t>
            </a:r>
            <a:r>
              <a:rPr sz="1400" b="1">
                <a:solidFill>
                  <a:srgbClr val="0A192F"/>
                </a:solidFill>
              </a:rPr>
              <a:t>1. Automated Unit &amp; Integration Testing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Jest Framework: </a:t>
            </a:r>
            <a:r>
              <a:rPr sz="1100">
                <a:solidFill>
                  <a:srgbClr val="4A5568"/>
                </a:solidFill>
              </a:rPr>
              <a:t>Full test coverage across NestJS controllers, services, and conflict calculation algorithms.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Validation Pipes: </a:t>
            </a:r>
            <a:r>
              <a:rPr sz="1100">
                <a:solidFill>
                  <a:srgbClr val="4A5568"/>
                </a:solidFill>
              </a:rPr>
              <a:t>Enforces strict payload constraints on every incoming REST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[CONCURRENCY LOAD] </a:t>
            </a:r>
            <a:r>
              <a:rPr sz="1400" b="1">
                <a:solidFill>
                  <a:srgbClr val="0A192F"/>
                </a:solidFill>
              </a:rPr>
              <a:t>2. Concurrency Load Verification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Simulated Race Conditions: </a:t>
            </a:r>
            <a:r>
              <a:rPr sz="1100">
                <a:solidFill>
                  <a:srgbClr val="4A5568"/>
                </a:solidFill>
              </a:rPr>
              <a:t>Scripted concurrent requests targeting the same room at the exact same millisecond.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Result: </a:t>
            </a:r>
            <a:r>
              <a:rPr sz="1100">
                <a:solidFill>
                  <a:srgbClr val="4A5568"/>
                </a:solidFill>
              </a:rPr>
              <a:t>Exactly one reservation approved; all competing requests received HTTP 409 Conflict.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[DEVICE TESTING] </a:t>
            </a:r>
            <a:r>
              <a:rPr sz="1400" b="1">
                <a:solidFill>
                  <a:srgbClr val="0A192F"/>
                </a:solidFill>
              </a:rPr>
              <a:t>3. Cross-Device Usability Testing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Viewport Inspections: </a:t>
            </a:r>
            <a:r>
              <a:rPr sz="1100">
                <a:solidFill>
                  <a:srgbClr val="4A5568"/>
                </a:solidFill>
              </a:rPr>
              <a:t>Tested on physical devices and emulators (360px, 390px, 412px, 768px).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Result: </a:t>
            </a:r>
            <a:r>
              <a:rPr sz="1100">
                <a:solidFill>
                  <a:srgbClr val="4A5568"/>
                </a:solidFill>
              </a:rPr>
              <a:t>Zero visual clipping; 100% of dialogs and sheets scroll smoothly.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51960"/>
            <a:ext cx="47548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[UAT METRICS] </a:t>
            </a:r>
            <a:r>
              <a:rPr sz="1400" b="1">
                <a:solidFill>
                  <a:srgbClr val="0A192F"/>
                </a:solidFill>
              </a:rPr>
              <a:t>4. User Acceptance Testing (UAT)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Uttara University Trials: </a:t>
            </a:r>
            <a:r>
              <a:rPr sz="1100">
                <a:solidFill>
                  <a:srgbClr val="4A5568"/>
                </a:solidFill>
              </a:rPr>
              <a:t>Tested by student cohorts, CRs, and faculty members.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Speed Metrics: </a:t>
            </a:r>
            <a:r>
              <a:rPr sz="1100">
                <a:solidFill>
                  <a:srgbClr val="4A5568"/>
                </a:solidFill>
              </a:rPr>
              <a:t>Room booked in &lt; 10 seconds; attendance logged in &lt; 30 seconds.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F4C81"/>
                </a:solidFill>
              </a:rPr>
              <a:t>6. CONCLUSION &amp; FUTURE SCOPE</a:t>
            </a:r>
            <a:r>
              <a:rPr sz="1000" b="1">
                <a:solidFill>
                  <a:srgbClr val="DD6B20"/>
                </a:solidFill>
              </a:rPr>
              <a:t>   |   SPEAKER 3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0A192F"/>
                </a:solidFill>
              </a:rPr>
              <a:t>Anticipated Impact &amp; Future Evolution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[CAMPUS IMPACT] </a:t>
            </a:r>
            <a:r>
              <a:rPr sz="1400" b="1">
                <a:solidFill>
                  <a:srgbClr val="0A192F"/>
                </a:solidFill>
              </a:rPr>
              <a:t>Anticipated Campus Contributions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1. Zero Schedule Confusion: </a:t>
            </a:r>
            <a:r>
              <a:rPr sz="1100">
                <a:solidFill>
                  <a:srgbClr val="4A5568"/>
                </a:solidFill>
              </a:rPr>
              <a:t>Authoritative, instant push alerts eliminate missed lectures and travel confusion.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2. Guaranteed Spatial Harmony: </a:t>
            </a:r>
            <a:r>
              <a:rPr sz="1100">
                <a:solidFill>
                  <a:srgbClr val="4A5568"/>
                </a:solidFill>
              </a:rPr>
              <a:t>OCC booking prevents classroom collisions and embarrassment.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3. Maximized Room Utilization: </a:t>
            </a:r>
            <a:r>
              <a:rPr sz="1100">
                <a:solidFill>
                  <a:srgbClr val="4A5568"/>
                </a:solidFill>
              </a:rPr>
              <a:t>Early checkout unlocks physical capacity, ending 'ghost occupancy'.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4. CR Time Savings: </a:t>
            </a:r>
            <a:r>
              <a:rPr sz="1100">
                <a:solidFill>
                  <a:srgbClr val="4A5568"/>
                </a:solidFill>
              </a:rPr>
              <a:t>Rapid absent keypad and SMS generator save 10-15 minutes of class time daily.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5. Universal Accessibility: </a:t>
            </a:r>
            <a:r>
              <a:rPr sz="1100">
                <a:solidFill>
                  <a:srgbClr val="4A5568"/>
                </a:solidFill>
              </a:rPr>
              <a:t>Accessible to all students on 360px+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B6CB0"/>
                </a:solidFill>
              </a:rPr>
              <a:t>[FUTURE ROADMAP] </a:t>
            </a:r>
            <a:r>
              <a:rPr sz="1400" b="1">
                <a:solidFill>
                  <a:srgbClr val="0A192F"/>
                </a:solidFill>
              </a:rPr>
              <a:t>Future Evolution Roadmap (V3.0+)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IoT Smart Door Locks: </a:t>
            </a:r>
            <a:r>
              <a:rPr sz="1100">
                <a:solidFill>
                  <a:srgbClr val="4A5568"/>
                </a:solidFill>
              </a:rPr>
              <a:t>Microcontroller relays (ESP32/RFID) automatically unlock room doors during active bookings.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Rotating QR Attendance: </a:t>
            </a:r>
            <a:r>
              <a:rPr sz="1100">
                <a:solidFill>
                  <a:srgbClr val="4A5568"/>
                </a:solidFill>
              </a:rPr>
              <a:t>Cryptographic QR codes displayed on lecture projectors for instant self-verification.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AI Schedule Optimization: </a:t>
            </a:r>
            <a:r>
              <a:rPr sz="1100">
                <a:solidFill>
                  <a:srgbClr val="4A5568"/>
                </a:solidFill>
              </a:rPr>
              <a:t>Genetic algorithms to auto-generate master semester routines based on room and faculty constraints.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12D4E"/>
                </a:solidFill>
              </a:rPr>
              <a:t>ERP &amp; LMS Integration: </a:t>
            </a:r>
            <a:r>
              <a:rPr sz="1100">
                <a:solidFill>
                  <a:srgbClr val="4A5568"/>
                </a:solidFill>
              </a:rPr>
              <a:t>Bidirectional sync with Moodle, Canvas, and university registrar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73152"/>
          </a:xfrm>
          <a:prstGeom prst="rect">
            <a:avLst/>
          </a:prstGeom>
          <a:solidFill>
            <a:srgbClr val="DD6B20"/>
          </a:solidFill>
          <a:ln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0CDF4"/>
                </a:solidFill>
              </a:rPr>
              <a:t>UNIROOM-LIVE 2.0  |  CAPSTONE PROJECT PROPOSAL DEFENSE</a:t>
            </a:r>
          </a:p>
          <a:p>
            <a:pPr>
              <a:spcBef>
                <a:spcPts val="800"/>
              </a:spcBef>
            </a:pPr>
            <a:r>
              <a:rPr sz="3000" b="1">
                <a:solidFill>
                  <a:srgbClr val="FFFFFF"/>
                </a:solidFill>
              </a:rPr>
              <a:t>Thank You for Your Time &amp; Attention!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CBD5E0"/>
                </a:solidFill>
              </a:rPr>
              <a:t>UniRoom-Live provides an enterprise-ready, concurrency-safe, real-time classroom orchestration foundation for modern tertiary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132A4A"/>
          </a:solidFill>
          <a:ln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101800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D8936"/>
                </a:solidFill>
              </a:rPr>
              <a:t>QUESTIONS &amp; ANSWERS (Q&amp;A) SESSION — FLOOR OPEN TO EVALUATION COMMITTEE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FFFFF"/>
                </a:solidFill>
              </a:rPr>
              <a:t>All 3 Team Members are Ready for Technical Inquiries:
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</a:rPr>
              <a:t>• Speaker 1: Ready for inquiries regarding Problem Definition, Objectives, User Needs &amp; Administrative Policy.
</a:t>
            </a:r>
            <a:r>
              <a:rPr sz="1000">
                <a:solidFill>
                  <a:srgbClr val="E2E8F0"/>
                </a:solidFill>
              </a:rPr>
              <a:t>• Speaker 2: Ready for inquiries regarding Backend Architecture, PostgreSQL OCC, Prisma ORM &amp; Conflict Algorithms.
</a:t>
            </a:r>
            <a:r>
              <a:rPr sz="1000">
                <a:solidFill>
                  <a:srgbClr val="E2E8F0"/>
                </a:solidFill>
              </a:rPr>
              <a:t>• Speaker 3: Ready for inquiries regarding Flutter Client Responsiveness (360px), CR SMS Integration &amp; Testing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